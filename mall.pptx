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ledning" id="{c288d5ed-ba2c-a5fa-e56d-786902b43a9f}">
          <p14:sldIdLst>
            <p14:sldId id="256"/>
          </p14:sldIdLst>
        </p14:section>
        <p14:section name="Resultat" id="{4680db69-4b36-6122-d8bf-80a578d41b7b}">
          <p14:sldIdLst>
            <p14:sldId id="257"/>
            <p14:sldId id="258"/>
            <p14:sldId id="259"/>
            <p14:sldId id="260"/>
            <p14:sldId id="261"/>
          </p14:sldIdLst>
        </p14:section>
        <p14:section name="Sträckor" id="{7b6cb8b1-ad46-bf72-683c-f09b45721195}">
          <p14:sldIdLst>
            <p14:sldId id="262"/>
          </p14:sldIdLst>
        </p14:section>
        <p14:section name="Avslut" id="{4028ce06-8577-7aed-a4c6-66193f0eb2dd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Titelsidan fylls av tv3_pptx.py med projekt, område, period och datum ur analysen.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16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Rubrik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Uppdrag · område · period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343400"/>
            <a:ext cx="1109167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Datum · beställare · utförare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DELA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Avsnitt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167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Kort ingress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UBRI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Rubrik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Tillståndsbedömning avloppsledningar  ·  tv3_analys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UBRIK_TEX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Rubrik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1091672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Text eller punktlista</a:t>
            </a: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Tillståndsbedömning avloppsledningar  ·  tv3_analys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UBRIK_BILD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Rubrik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548640" y="1371600"/>
            <a:ext cx="74980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Bild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321040" y="1371600"/>
            <a:ext cx="3319272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Kommentar</a:t>
            </a: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Tillståndsbedömning avloppsledningar  ·  tv3_analys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UBRIK_TABE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Rubrik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548640" y="1371600"/>
            <a:ext cx="11091672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Tabell</a:t>
            </a: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Tillståndsbedömning avloppsledningar  ·  tv3_analys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RACK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Rubrik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548640" y="1325880"/>
            <a:ext cx="7223760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Översiktsbild</a:t>
            </a:r>
            <a:endParaRPr lang="en-US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548640" y="3703320"/>
            <a:ext cx="2331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Foto 1</a:t>
            </a:r>
            <a:endParaRPr lang="en-US" dirty="0"/>
          </a:p>
        </p:txBody>
      </p:sp>
      <p:sp>
        <p:nvSpPr>
          <p:cNvPr id="5" name="Text 0"/>
          <p:cNvSpPr/>
          <p:nvPr>
            <p:ph idx="103" hasCustomPrompt="1"/>
          </p:nvPr>
        </p:nvSpPr>
        <p:spPr>
          <a:xfrm>
            <a:off x="2999232" y="3703320"/>
            <a:ext cx="2331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Foto 2</a:t>
            </a:r>
            <a:endParaRPr lang="en-US" dirty="0"/>
          </a:p>
        </p:txBody>
      </p:sp>
      <p:sp>
        <p:nvSpPr>
          <p:cNvPr id="6" name="Text 0"/>
          <p:cNvSpPr/>
          <p:nvPr>
            <p:ph idx="104" hasCustomPrompt="1"/>
          </p:nvPr>
        </p:nvSpPr>
        <p:spPr>
          <a:xfrm>
            <a:off x="5449824" y="3703320"/>
            <a:ext cx="2331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Foto 3</a:t>
            </a:r>
            <a:endParaRPr lang="en-US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8229600" y="1325880"/>
            <a:ext cx="3410712" cy="4709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Nyckeluppgifter</a:t>
            </a:r>
            <a:endParaRPr lang="en-US" sz="1300" dirty="0"/>
          </a:p>
        </p:txBody>
      </p:sp>
      <p:sp>
        <p:nvSpPr>
          <p:cNvPr id="8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Tillståndsbedömning avloppsledningar  ·  tv3_analys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LU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Nästa steg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920240"/>
            <a:ext cx="11091672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Punkter</a:t>
            </a: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Tillståndsbedömning avloppsledningar  ·  tv3_analys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Tillståndsbedömning av avloppsledningar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DUF 701  ·  Alvik / Äppelviken  ·  TV-inspektion maj–juni 2021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343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Stockholm Vatten och Avfall  ·  underlag för förnyelseplanering  ·  2026-10-03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Resultat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185 sträckor bedömda enligt poängmodellen, klass A–E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Nyckeltal</a:t>
            </a:r>
            <a:endParaRPr lang="en-US" sz="3000" dirty="0"/>
          </a:p>
        </p:txBody>
      </p:sp>
      <p:sp>
        <p:nvSpPr>
          <p:cNvPr id="3" name="stat-ruta-1"/>
          <p:cNvSpPr/>
          <p:nvPr/>
        </p:nvSpPr>
        <p:spPr>
          <a:xfrm>
            <a:off x="548640" y="15544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-varde-1"/>
          <p:cNvSpPr txBox="1"/>
          <p:nvPr/>
        </p:nvSpPr>
        <p:spPr>
          <a:xfrm>
            <a:off x="82296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185</a:t>
            </a:r>
            <a:endParaRPr lang="en-US" sz="4000" dirty="0"/>
          </a:p>
        </p:txBody>
      </p:sp>
      <p:sp>
        <p:nvSpPr>
          <p:cNvPr id="5" name="stat-etikett-1"/>
          <p:cNvSpPr txBox="1"/>
          <p:nvPr/>
        </p:nvSpPr>
        <p:spPr>
          <a:xfrm>
            <a:off x="82296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sträckor inspekterade</a:t>
            </a:r>
            <a:endParaRPr lang="en-US" sz="1400" dirty="0"/>
          </a:p>
        </p:txBody>
      </p:sp>
      <p:sp>
        <p:nvSpPr>
          <p:cNvPr id="6" name="stat-ruta-2"/>
          <p:cNvSpPr/>
          <p:nvPr/>
        </p:nvSpPr>
        <p:spPr>
          <a:xfrm>
            <a:off x="4297680" y="15544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-varde-2"/>
          <p:cNvSpPr txBox="1"/>
          <p:nvPr/>
        </p:nvSpPr>
        <p:spPr>
          <a:xfrm>
            <a:off x="457200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7 385 m</a:t>
            </a:r>
            <a:endParaRPr lang="en-US" sz="4000" dirty="0"/>
          </a:p>
        </p:txBody>
      </p:sp>
      <p:sp>
        <p:nvSpPr>
          <p:cNvPr id="8" name="stat-etikett-2"/>
          <p:cNvSpPr txBox="1"/>
          <p:nvPr/>
        </p:nvSpPr>
        <p:spPr>
          <a:xfrm>
            <a:off x="45720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inspekterad längd</a:t>
            </a:r>
            <a:endParaRPr lang="en-US" sz="1400" dirty="0"/>
          </a:p>
        </p:txBody>
      </p:sp>
      <p:sp>
        <p:nvSpPr>
          <p:cNvPr id="9" name="stat-ruta-3"/>
          <p:cNvSpPr/>
          <p:nvPr/>
        </p:nvSpPr>
        <p:spPr>
          <a:xfrm>
            <a:off x="8046720" y="15544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-varde-3"/>
          <p:cNvSpPr txBox="1"/>
          <p:nvPr/>
        </p:nvSpPr>
        <p:spPr>
          <a:xfrm>
            <a:off x="832104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40</a:t>
            </a:r>
            <a:endParaRPr lang="en-US" sz="4000" dirty="0"/>
          </a:p>
        </p:txBody>
      </p:sp>
      <p:sp>
        <p:nvSpPr>
          <p:cNvPr id="11" name="stat-etikett-3"/>
          <p:cNvSpPr txBox="1"/>
          <p:nvPr/>
        </p:nvSpPr>
        <p:spPr>
          <a:xfrm>
            <a:off x="832104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sträckor i klass A – Åtgärda</a:t>
            </a:r>
            <a:endParaRPr lang="en-US" sz="1400" dirty="0"/>
          </a:p>
        </p:txBody>
      </p:sp>
      <p:sp>
        <p:nvSpPr>
          <p:cNvPr id="12" name="stat-ruta-4"/>
          <p:cNvSpPr/>
          <p:nvPr/>
        </p:nvSpPr>
        <p:spPr>
          <a:xfrm>
            <a:off x="548640" y="38404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-varde-4"/>
          <p:cNvSpPr txBox="1"/>
          <p:nvPr/>
        </p:nvSpPr>
        <p:spPr>
          <a:xfrm>
            <a:off x="822960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1 501 m</a:t>
            </a:r>
            <a:endParaRPr lang="en-US" sz="4000" dirty="0"/>
          </a:p>
        </p:txBody>
      </p:sp>
      <p:sp>
        <p:nvSpPr>
          <p:cNvPr id="14" name="stat-etikett-4"/>
          <p:cNvSpPr txBox="1"/>
          <p:nvPr/>
        </p:nvSpPr>
        <p:spPr>
          <a:xfrm>
            <a:off x="822960" y="5029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längd i klass A (20 %)</a:t>
            </a:r>
            <a:endParaRPr lang="en-US" sz="1400" dirty="0"/>
          </a:p>
        </p:txBody>
      </p:sp>
      <p:sp>
        <p:nvSpPr>
          <p:cNvPr id="15" name="stat-ruta-5"/>
          <p:cNvSpPr/>
          <p:nvPr/>
        </p:nvSpPr>
        <p:spPr>
          <a:xfrm>
            <a:off x="4297680" y="38404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-varde-5"/>
          <p:cNvSpPr txBox="1"/>
          <p:nvPr/>
        </p:nvSpPr>
        <p:spPr>
          <a:xfrm>
            <a:off x="4572000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474</a:t>
            </a:r>
            <a:endParaRPr lang="en-US" sz="4000" dirty="0"/>
          </a:p>
        </p:txBody>
      </p:sp>
      <p:sp>
        <p:nvSpPr>
          <p:cNvPr id="17" name="stat-etikett-5"/>
          <p:cNvSpPr txBox="1"/>
          <p:nvPr/>
        </p:nvSpPr>
        <p:spPr>
          <a:xfrm>
            <a:off x="4572000" y="5029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registrerade skador</a:t>
            </a:r>
            <a:endParaRPr lang="en-US" sz="1400" dirty="0"/>
          </a:p>
        </p:txBody>
      </p:sp>
      <p:sp>
        <p:nvSpPr>
          <p:cNvPr id="18" name="stat-ruta-6"/>
          <p:cNvSpPr/>
          <p:nvPr/>
        </p:nvSpPr>
        <p:spPr>
          <a:xfrm>
            <a:off x="8046720" y="38404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at-varde-6"/>
          <p:cNvSpPr txBox="1"/>
          <p:nvPr/>
        </p:nvSpPr>
        <p:spPr>
          <a:xfrm>
            <a:off x="8321040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12</a:t>
            </a:r>
            <a:endParaRPr lang="en-US" sz="4000" dirty="0"/>
          </a:p>
        </p:txBody>
      </p:sp>
      <p:sp>
        <p:nvSpPr>
          <p:cNvPr id="20" name="stat-etikett-6"/>
          <p:cNvSpPr txBox="1"/>
          <p:nvPr/>
        </p:nvSpPr>
        <p:spPr>
          <a:xfrm>
            <a:off x="8321040" y="5029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avbrutna inspektioner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Inspekterad längd per prioritetsklass</a:t>
            </a:r>
            <a:endParaRPr lang="en-US" sz="3000" dirty="0"/>
          </a:p>
        </p:txBody>
      </p:sp>
      <p:pic>
        <p:nvPicPr>
          <p:cNvPr id="3" name="Image 0" descr="/tmp/claude-0/-home-user-tv3analys/fc179ffd-9ad7-56de-bd5e-ce84a51345cc/scratchpad/pp/diagram/1_prioritetsklasser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39319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8321040" y="1371600"/>
            <a:ext cx="33192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Klass A – Åtgärda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Grad 4 på rörbrott eller deformation, eller konstruktionsindex ≥ 80 p/100 m.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Klass B – Planera renovering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Konstruktionsgrad 3 eller index ≥ 25.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Driftskador (rötter, sediment) påverkar inte klassen.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 15 mest kritiska sträckorna</a:t>
            </a:r>
            <a:endParaRPr lang="en-US" sz="3000" dirty="0"/>
          </a:p>
        </p:txBody>
      </p:sp>
      <p:pic>
        <p:nvPicPr>
          <p:cNvPr id="3" name="Image 0" descr="/tmp/claude-0/-home-user-tv3analys/fc179ffd-9ad7-56de-bd5e-ce84a51345cc/scratchpad/pp/diagram/2_topplista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47548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8321040" y="1371600"/>
            <a:ext cx="33192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Konstruktionsindex i poäng per 100 m. Drift i orange ingår inte i rangordningen.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Topplista – klass A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75488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1188720"/>
                <a:gridCol w="822960"/>
                <a:gridCol w="1097280"/>
                <a:gridCol w="91440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Rang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Sträcka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Dim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Längd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Index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Skador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SRB64009 → SRB1016560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Betong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35,1 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859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9×YTS4, SPR3, YTS3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KRB1016011 → KNBL63289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Betong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33,8 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653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5×YTS4, 6×SPR3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KNBL63289 → KRB69016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Betong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7,6 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520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3×YTS4, SPR3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SRB64010 → SRB64009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Betong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38,6 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386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3×YTS4, 3×SPR3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KRB69016 → KRB69015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Betong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23,0 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FOG3, 5×SPR3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1. SRB64009 → SRB1016560  ·  Klass A</a:t>
            </a:r>
            <a:endParaRPr lang="en-US" sz="3000" dirty="0"/>
          </a:p>
        </p:txBody>
      </p:sp>
      <p:pic>
        <p:nvPicPr>
          <p:cNvPr id="3" name="Image 0" descr="/tmp/claude-0/-home-user-tv3analys/fc179ffd-9ad7-56de-bd5e-ce84a51345cc/scratchpad/pptx/schema77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22402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5" type="body" hasCustomPrompt="1"/>
          </p:nvPr>
        </p:nvSpPr>
        <p:spPr>
          <a:xfrm>
            <a:off x="8229600" y="1325880"/>
            <a:ext cx="341071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Betong 225 mm, 35,1 m, spillvatten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Konstruktionsindex 859 p/100 m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9 ytskador grad 4, komplex spricka grad 3, löpande ytskada grad 3 över hela sträckan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3 anslutningar  ·  ingen svacka  ·  lutning 46,7 ‰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Förslag: strumpa från SRB64009, 3 hattar</a:t>
            </a:r>
            <a:endParaRPr lang="en-US" sz="13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548640" y="3703320"/>
            <a:ext cx="2331720" cy="2331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0"/>
          <p:cNvSpPr/>
          <p:nvPr>
            <p:ph idx="103" hasCustomPrompt="1"/>
          </p:nvPr>
        </p:nvSpPr>
        <p:spPr>
          <a:xfrm>
            <a:off x="2999232" y="3703320"/>
            <a:ext cx="2331720" cy="2331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0"/>
          <p:cNvSpPr/>
          <p:nvPr>
            <p:ph idx="104" hasCustomPrompt="1"/>
          </p:nvPr>
        </p:nvSpPr>
        <p:spPr>
          <a:xfrm>
            <a:off x="5449824" y="3703320"/>
            <a:ext cx="2331720" cy="2331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Nästa steg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920240"/>
            <a:ext cx="110916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Manuell genomgång av klass A och B i fält och film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Etappindelning och kostnadskalkyl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Beställning av infodring etapp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Driftåtgärder: rotskärning och spolning enligt lista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v3_analys">
  <a:themeElements>
    <a:clrScheme name="tv3_analys">
      <a:dk1>
        <a:srgbClr val="1C2B33"/>
      </a:dk1>
      <a:lt1>
        <a:srgbClr val="FFFFFF"/>
      </a:lt1>
      <a:dk2>
        <a:srgbClr val="0B5C6B"/>
      </a:dk2>
      <a:lt2>
        <a:srgbClr val="E6EFF2"/>
      </a:lt2>
      <a:accent1>
        <a:srgbClr val="0B5C6B"/>
      </a:accent1>
      <a:accent2>
        <a:srgbClr val="D03B3B"/>
      </a:accent2>
      <a:accent3>
        <a:srgbClr val="EC835A"/>
      </a:accent3>
      <a:accent4>
        <a:srgbClr val="FAB219"/>
      </a:accent4>
      <a:accent5>
        <a:srgbClr val="0CA30C"/>
      </a:accent5>
      <a:accent6>
        <a:srgbClr val="7A8C94"/>
      </a:accent6>
      <a:hlink>
        <a:srgbClr val="0B5C6B"/>
      </a:hlink>
      <a:folHlink>
        <a:srgbClr val="7A8C94"/>
      </a:folHlink>
    </a:clrScheme>
    <a:fontScheme name="tv3_analy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 tv3_analys</dc:title>
  <dc:subject>PptxGenJS Presentation</dc:subject>
  <dc:creator>tv3_analys</dc:creator>
  <cp:lastModifiedBy>tv3_analys</cp:lastModifiedBy>
  <cp:revision>1</cp:revision>
  <dcterms:created xsi:type="dcterms:W3CDTF">2026-10-03T10:49:03Z</dcterms:created>
  <dcterms:modified xsi:type="dcterms:W3CDTF">2026-10-03T10:49:03Z</dcterms:modified>
</cp:coreProperties>
</file>